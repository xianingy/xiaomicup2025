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82227-041B-BE3B-764B-308D07B21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074A1C-7BFE-BA89-EC22-02BD12D52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6EC8AE-C6D9-2A4F-407D-A5A2124AF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D98F-0BA1-40A0-95D1-D04134D16AC7}" type="datetimeFigureOut">
              <a:rPr lang="zh-CN" altLang="en-US" smtClean="0"/>
              <a:t>2025/5/31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3D62F2-8D48-0F57-BB8E-7179D7C51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1AF9D7-57D3-4722-2EEB-03B8FF6A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B56-17B8-4FC2-A962-C5E214EED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977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ED22F6-7074-363A-F65A-615313F3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FB94A1-B05B-BF28-1560-E4F2A3BE8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D9120B-7A71-FCB7-D784-B5C9F0BD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D98F-0BA1-40A0-95D1-D04134D16AC7}" type="datetimeFigureOut">
              <a:rPr lang="zh-CN" altLang="en-US" smtClean="0"/>
              <a:t>2025/5/31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EC534-7B4B-1995-EE66-95463C22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343E7F-D16E-B596-3EC6-F845F5B9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B56-17B8-4FC2-A962-C5E214EED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07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51CDD-6C2B-6FBD-1796-31553B880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39E0C5-B840-E40B-3715-E3093AF83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2C855F-7D85-7116-05D6-901F840FD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D98F-0BA1-40A0-95D1-D04134D16AC7}" type="datetimeFigureOut">
              <a:rPr lang="zh-CN" altLang="en-US" smtClean="0"/>
              <a:t>2025/5/31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45151-7943-91E3-9EDE-C7D8798B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BB7E09-BFF7-B2AE-3FB7-132646585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B56-17B8-4FC2-A962-C5E214EED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79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DCD95A-B898-2E55-C963-6AE31CAE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1D3629-7E03-4B6F-30FA-C29BCDCF8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FB32C7-FE3D-2BC9-3576-E64ADACED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5577A6-4CC4-BD55-8D0C-E1CF5AA4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D98F-0BA1-40A0-95D1-D04134D16AC7}" type="datetimeFigureOut">
              <a:rPr lang="zh-CN" altLang="en-US" smtClean="0"/>
              <a:t>2025/5/31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08CF11-4F64-9E4D-7669-6144AE010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B80C89-26C7-A40A-7028-285DFCB45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B56-17B8-4FC2-A962-C5E214EED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07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6E4AE-CF5F-971F-AAA3-4703067C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47D625-CD85-65F0-FA46-6DB48E517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CA3780-C3BE-590B-109A-A8FCB4206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A84683-1436-A83E-83EB-0F531548B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8B6777-F842-3292-94FD-E49260DDA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D5BB30-69AC-65F0-4B50-6A9AEF24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D98F-0BA1-40A0-95D1-D04134D16AC7}" type="datetimeFigureOut">
              <a:rPr lang="zh-CN" altLang="en-US" smtClean="0"/>
              <a:t>2025/5/31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93321E-AD59-F008-8645-3C9B864CE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85CEF0-A8F0-DCEA-FFEB-19CEDE11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B56-17B8-4FC2-A962-C5E214EED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960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77FE2-C599-3427-5080-BE583ECB5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F01CDE6-865A-598B-3B3F-6D9E52B72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D98F-0BA1-40A0-95D1-D04134D16AC7}" type="datetimeFigureOut">
              <a:rPr lang="zh-CN" altLang="en-US" smtClean="0"/>
              <a:t>2025/5/31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CD3977-0967-832F-1179-9A45BADD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377D42-2370-4970-E72C-CACC0D9E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B56-17B8-4FC2-A962-C5E214EED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34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842151-BC6B-55A3-C459-60DD3C5B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D98F-0BA1-40A0-95D1-D04134D16AC7}" type="datetimeFigureOut">
              <a:rPr lang="zh-CN" altLang="en-US" smtClean="0"/>
              <a:t>2025/5/31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E801D0-2782-E659-6A42-A10F3D21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F80137-A5F1-B369-3DF4-FC7052FE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B56-17B8-4FC2-A962-C5E214EED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620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A69DD-3036-E0E5-B73C-94C6BAFF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8890D-C853-C139-2A7E-F4CF23904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E6145C-46AF-4AF6-1F68-1D9BC1B76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229725-B768-2FB9-914C-3A7EBC50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D98F-0BA1-40A0-95D1-D04134D16AC7}" type="datetimeFigureOut">
              <a:rPr lang="zh-CN" altLang="en-US" smtClean="0"/>
              <a:t>2025/5/31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BA0DA7-27BD-75D1-9819-0C0D00D4D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821D16-27B5-56F2-DBB1-D423E4216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B56-17B8-4FC2-A962-C5E214EED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40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CB134-1DA9-BA1A-0C97-B80F7AF6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04CB65-D818-4B27-7B22-084FE11C6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87CFF0-2E59-8114-45EA-D8CFB4098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DFF42-69AB-40C0-6E66-A07340A7D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D98F-0BA1-40A0-95D1-D04134D16AC7}" type="datetimeFigureOut">
              <a:rPr lang="zh-CN" altLang="en-US" smtClean="0"/>
              <a:t>2025/5/31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05C809-3519-1C7B-841B-E4DA202D8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2B578A-3339-75F7-D0F7-1B787DA39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B56-17B8-4FC2-A962-C5E214EED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78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398C8-B790-534C-9CE3-FB2599F6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E0D4CA-F499-7E14-7274-F66627041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4CC117-F4E4-BF8A-AB0A-E74BDEF73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D98F-0BA1-40A0-95D1-D04134D16AC7}" type="datetimeFigureOut">
              <a:rPr lang="zh-CN" altLang="en-US" smtClean="0"/>
              <a:t>2025/5/31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B16171-6594-C481-9C90-D6F58C6F0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F9B25-F9C5-AB92-D33D-04CA73D7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B56-17B8-4FC2-A962-C5E214EED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909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65E8D7-E9BD-290F-BF70-7AB8495D2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6CEF0F-D7BF-EDBC-38A6-8F6A4C906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494107-E4A0-53FF-EDF1-D0B9529CF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CD98F-0BA1-40A0-95D1-D04134D16AC7}" type="datetimeFigureOut">
              <a:rPr lang="zh-CN" altLang="en-US" smtClean="0"/>
              <a:t>2025/5/31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293834-3399-43F0-5142-3DB13AF7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C56821-6F0A-5442-45A9-E3B66C7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B56-17B8-4FC2-A962-C5E214EED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23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475C6C3-12C4-4693-11A8-6B0712B0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CC594A-82E1-A693-FBB1-E813692F4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80D3C8-044D-6630-A15E-5DB1454D6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CD98F-0BA1-40A0-95D1-D04134D16AC7}" type="datetimeFigureOut">
              <a:rPr lang="zh-CN" altLang="en-US" smtClean="0"/>
              <a:t>2025/5/31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8E94BD-A0E8-2B34-B909-75270C351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F71575-F384-3F2C-838C-C952D1DE0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D5B56-17B8-4FC2-A962-C5E214EED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82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64AF9-C446-6DC4-B623-3712C8102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794" y="360600"/>
            <a:ext cx="4572000" cy="578227"/>
          </a:xfrm>
        </p:spPr>
        <p:txBody>
          <a:bodyPr>
            <a:normAutofit/>
          </a:bodyPr>
          <a:lstStyle/>
          <a:p>
            <a:r>
              <a:rPr lang="zh-CN" altLang="en-US" sz="3200" b="1" i="0" dirty="0">
                <a:solidFill>
                  <a:srgbClr val="000000"/>
                </a:solidFill>
                <a:effectLst/>
                <a:latin typeface="Inter"/>
              </a:rPr>
              <a:t>方案概述与系统架构</a:t>
            </a:r>
            <a:endParaRPr lang="zh-CN" altLang="en-US" sz="32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B9F246-17F8-F226-01B7-DBE716E756C3}"/>
              </a:ext>
            </a:extLst>
          </p:cNvPr>
          <p:cNvSpPr txBox="1"/>
          <p:nvPr/>
        </p:nvSpPr>
        <p:spPr>
          <a:xfrm>
            <a:off x="1005664" y="1011317"/>
            <a:ext cx="9254867" cy="4846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系统组成</a:t>
            </a:r>
          </a:p>
          <a:p>
            <a:pPr lvl="1">
              <a:lnSpc>
                <a:spcPct val="150000"/>
              </a:lnSpc>
            </a:pPr>
            <a:r>
              <a:rPr lang="zh-CN" altLang="en-US" sz="2000" b="1" dirty="0"/>
              <a:t>四大模块：</a:t>
            </a:r>
            <a:r>
              <a:rPr lang="zh-CN" altLang="en-US" sz="2000" dirty="0"/>
              <a:t>环境感知（雷达 </a:t>
            </a:r>
            <a:r>
              <a:rPr lang="en-US" altLang="zh-CN" sz="2000" dirty="0"/>
              <a:t>/ </a:t>
            </a:r>
            <a:r>
              <a:rPr lang="zh-CN" altLang="en-US" sz="2000" dirty="0"/>
              <a:t>相机）、导航规划、运动控制、二维码识别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通过 </a:t>
            </a:r>
            <a:r>
              <a:rPr lang="en-US" altLang="zh-CN" sz="2000" dirty="0"/>
              <a:t>ROS </a:t>
            </a:r>
            <a:r>
              <a:rPr lang="zh-CN" altLang="en-US" sz="2000" dirty="0"/>
              <a:t>与 </a:t>
            </a:r>
            <a:r>
              <a:rPr lang="en-US" altLang="zh-CN" sz="2000" dirty="0"/>
              <a:t>LCM </a:t>
            </a:r>
            <a:r>
              <a:rPr lang="zh-CN" altLang="en-US" sz="2000" dirty="0"/>
              <a:t>实现数据交互，支持多模态传感器融合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通信框架</a:t>
            </a:r>
          </a:p>
          <a:p>
            <a:pPr lvl="1">
              <a:lnSpc>
                <a:spcPct val="150000"/>
              </a:lnSpc>
            </a:pPr>
            <a:r>
              <a:rPr lang="en-US" altLang="zh-CN" sz="2000" b="1" dirty="0"/>
              <a:t>ROS </a:t>
            </a:r>
            <a:r>
              <a:rPr lang="zh-CN" altLang="en-US" sz="2000" b="1" dirty="0"/>
              <a:t>节点：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图像 </a:t>
            </a:r>
            <a:r>
              <a:rPr lang="en-US" altLang="zh-CN" sz="2000" dirty="0"/>
              <a:t>/ </a:t>
            </a:r>
            <a:r>
              <a:rPr lang="zh-CN" altLang="en-US" sz="2000" dirty="0"/>
              <a:t>雷达数据处理：</a:t>
            </a:r>
            <a:r>
              <a:rPr lang="en-US" altLang="zh-CN" sz="2000" dirty="0" err="1"/>
              <a:t>image_camera_plugin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kyterdag_laserscan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路径规划：</a:t>
            </a:r>
            <a:r>
              <a:rPr lang="en-US" altLang="zh-CN" sz="2000" dirty="0" err="1"/>
              <a:t>Amu_plajin</a:t>
            </a:r>
            <a:r>
              <a:rPr lang="zh-CN" altLang="en-US" sz="2000" dirty="0"/>
              <a:t>节点结合力反馈</a:t>
            </a:r>
            <a:r>
              <a:rPr lang="en-US" altLang="zh-CN" sz="2000" dirty="0" err="1"/>
              <a:t>force_node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b="1" dirty="0"/>
              <a:t>LCM </a:t>
            </a:r>
            <a:r>
              <a:rPr lang="zh-CN" altLang="en-US" sz="2000" b="1" dirty="0"/>
              <a:t>实时通信：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指令通道：发送步态 </a:t>
            </a:r>
            <a:r>
              <a:rPr lang="en-US" altLang="zh-CN" sz="2000" dirty="0"/>
              <a:t>ID</a:t>
            </a:r>
            <a:r>
              <a:rPr lang="zh-CN" altLang="en-US" sz="2000" dirty="0"/>
              <a:t>（如上坡</a:t>
            </a:r>
            <a:r>
              <a:rPr lang="en-US" altLang="zh-CN" sz="2000"/>
              <a:t>ID=110</a:t>
            </a:r>
            <a:r>
              <a:rPr lang="zh-CN" altLang="en-US" sz="2000"/>
              <a:t>）</a:t>
            </a:r>
            <a:r>
              <a:rPr lang="zh-CN" altLang="en-US" sz="2000" dirty="0"/>
              <a:t>、步高、俯仰角等参数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反馈通道：步态状态（如</a:t>
            </a:r>
            <a:r>
              <a:rPr lang="en-US" altLang="zh-CN" sz="2000" dirty="0" err="1"/>
              <a:t>switch_status</a:t>
            </a:r>
            <a:r>
              <a:rPr lang="en-US" altLang="zh-CN" sz="2000" dirty="0"/>
              <a:t>=4</a:t>
            </a:r>
            <a:r>
              <a:rPr lang="zh-CN" altLang="en-US" sz="2000" dirty="0"/>
              <a:t>表示抬升中）</a:t>
            </a:r>
          </a:p>
        </p:txBody>
      </p:sp>
    </p:spTree>
    <p:extLst>
      <p:ext uri="{BB962C8B-B14F-4D97-AF65-F5344CB8AC3E}">
        <p14:creationId xmlns:p14="http://schemas.microsoft.com/office/powerpoint/2010/main" val="270876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CB0EF-A1CF-E375-5D31-C394BDC0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19" y="289918"/>
            <a:ext cx="6097604" cy="666530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初赛流程图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28A711-4EFB-FDDA-3647-4123DC38F2F1}"/>
              </a:ext>
            </a:extLst>
          </p:cNvPr>
          <p:cNvSpPr txBox="1"/>
          <p:nvPr/>
        </p:nvSpPr>
        <p:spPr>
          <a:xfrm>
            <a:off x="825762" y="1281671"/>
            <a:ext cx="7443264" cy="114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说明：</a:t>
            </a:r>
            <a:r>
              <a:rPr lang="zh-CN" altLang="zh-CN" sz="2400" b="1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本参赛队的</a:t>
            </a:r>
            <a:r>
              <a:rPr lang="en-US" altLang="zh-CN" sz="2400" b="1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400" b="1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区二维码为</a:t>
            </a:r>
            <a:r>
              <a:rPr lang="en-US" altLang="zh-CN" sz="2400" b="1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A-1</a:t>
            </a:r>
            <a:r>
              <a:rPr lang="zh-CN" altLang="zh-CN" sz="2400" b="1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区二维码为</a:t>
            </a:r>
            <a:r>
              <a:rPr lang="en-US" altLang="zh-CN" sz="2400" b="1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B-2</a:t>
            </a:r>
            <a:r>
              <a:rPr lang="zh-CN" altLang="zh-CN" sz="2400" b="1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，路线箭头为朝右。</a:t>
            </a:r>
            <a:endParaRPr lang="zh-CN" altLang="en-US" sz="2400" b="1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48D9A9-9020-D919-53CB-10E975526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684" y="455337"/>
            <a:ext cx="1172644" cy="190732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5CD751C-1312-639E-EF3B-84796727ED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160" r="-2099"/>
          <a:stretch/>
        </p:blipFill>
        <p:spPr>
          <a:xfrm>
            <a:off x="9879570" y="1272569"/>
            <a:ext cx="1332964" cy="11947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E646ABE-23BA-91B3-132F-0818477D5D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10" b="71078"/>
          <a:stretch/>
        </p:blipFill>
        <p:spPr>
          <a:xfrm>
            <a:off x="9919289" y="591016"/>
            <a:ext cx="1177524" cy="79254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63123D7-A3EF-7278-6DE3-BE8A730A94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191" y="2431442"/>
            <a:ext cx="1673860" cy="114681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40846E4-CEAB-A836-5DCB-4E2C38E8462A}"/>
              </a:ext>
            </a:extLst>
          </p:cNvPr>
          <p:cNvSpPr txBox="1"/>
          <p:nvPr/>
        </p:nvSpPr>
        <p:spPr>
          <a:xfrm>
            <a:off x="576405" y="2999107"/>
            <a:ext cx="6183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标准流程</a:t>
            </a:r>
            <a:r>
              <a:rPr lang="zh-CN" altLang="en-US" sz="2400" b="1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如下：</a:t>
            </a:r>
            <a:endParaRPr lang="zh-CN" altLang="en-US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6E416D-62C3-1B5A-7855-D4A3460E8A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20" y="3429000"/>
            <a:ext cx="11885080" cy="306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2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C0E63-AE89-911F-80E1-3B47D3A7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91" y="53757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创新点与核心技术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298D874-0CF4-6AD0-0542-A12E26D11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077" y="1177189"/>
            <a:ext cx="10866120" cy="51135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混合控制架构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开环控制（地形穿越）</a:t>
            </a:r>
            <a:r>
              <a:rPr lang="en-US" altLang="zh-CN" sz="2000" dirty="0"/>
              <a:t>+ </a:t>
            </a:r>
            <a:r>
              <a:rPr lang="zh-CN" altLang="en-US" sz="2000" dirty="0"/>
              <a:t>闭环控制（定位修正）</a:t>
            </a:r>
            <a:r>
              <a:rPr lang="en-US" altLang="zh-CN" sz="2000" dirty="0"/>
              <a:t>+MPC </a:t>
            </a:r>
            <a:r>
              <a:rPr lang="zh-CN" altLang="en-US" sz="2000" dirty="0"/>
              <a:t>轨迹预测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效果：出线 </a:t>
            </a:r>
            <a:r>
              <a:rPr lang="en-US" altLang="zh-CN" sz="2000" dirty="0"/>
              <a:t>/ </a:t>
            </a:r>
            <a:r>
              <a:rPr lang="zh-CN" altLang="en-US" sz="2000" dirty="0"/>
              <a:t>踩线率 </a:t>
            </a:r>
            <a:r>
              <a:rPr lang="en-US" altLang="zh-CN" sz="2000" dirty="0"/>
              <a:t>&lt; 0.5 </a:t>
            </a:r>
            <a:r>
              <a:rPr lang="zh-CN" altLang="en-US" sz="2000" dirty="0"/>
              <a:t>次 </a:t>
            </a:r>
            <a:r>
              <a:rPr lang="en-US" altLang="zh-CN" sz="2000" dirty="0"/>
              <a:t>/ </a:t>
            </a:r>
            <a:r>
              <a:rPr lang="zh-CN" altLang="en-US" sz="2000" dirty="0"/>
              <a:t>赛段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自定义步态与视觉融合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上坡步态：</a:t>
            </a:r>
            <a:r>
              <a:rPr lang="en-US" altLang="zh-CN" sz="2000" dirty="0"/>
              <a:t>+15° </a:t>
            </a:r>
            <a:r>
              <a:rPr lang="zh-CN" altLang="en-US" sz="2000" dirty="0"/>
              <a:t>俯仰角、</a:t>
            </a:r>
            <a:r>
              <a:rPr lang="en-US" altLang="zh-CN" sz="2000" dirty="0"/>
              <a:t>+20% </a:t>
            </a:r>
            <a:r>
              <a:rPr lang="zh-CN" altLang="en-US" sz="2000" dirty="0"/>
              <a:t>驱动力，通过率 </a:t>
            </a:r>
            <a:r>
              <a:rPr lang="en-US" altLang="zh-CN" sz="2000" dirty="0"/>
              <a:t>95%+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石板路步态：</a:t>
            </a:r>
            <a:r>
              <a:rPr lang="en-US" altLang="zh-CN" sz="2000" dirty="0"/>
              <a:t>-30% </a:t>
            </a:r>
            <a:r>
              <a:rPr lang="zh-CN" altLang="en-US" sz="2000" dirty="0"/>
              <a:t>步频、动态调足端，颠簸减少 </a:t>
            </a:r>
            <a:r>
              <a:rPr lang="en-US" altLang="zh-CN" sz="2000" dirty="0"/>
              <a:t>80%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实时视觉模块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二维码识别：基于</a:t>
            </a:r>
            <a:r>
              <a:rPr lang="en-US" altLang="zh-CN" sz="2000" dirty="0" err="1"/>
              <a:t>pyzbar</a:t>
            </a:r>
            <a:r>
              <a:rPr lang="zh-CN" altLang="en-US" sz="2000" dirty="0"/>
              <a:t>，延迟 </a:t>
            </a:r>
            <a:r>
              <a:rPr lang="en-US" altLang="zh-CN" sz="2000" dirty="0"/>
              <a:t>&lt; 200ms</a:t>
            </a:r>
            <a:r>
              <a:rPr lang="zh-CN" altLang="en-US" sz="2000" dirty="0"/>
              <a:t>，准确率 </a:t>
            </a:r>
            <a:r>
              <a:rPr lang="en-US" altLang="zh-CN" sz="2000" dirty="0"/>
              <a:t>100%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多模态检测：黄色区域（延迟 </a:t>
            </a:r>
            <a:r>
              <a:rPr lang="en-US" altLang="zh-CN" sz="2000" dirty="0"/>
              <a:t>&lt; 100ms</a:t>
            </a:r>
            <a:r>
              <a:rPr lang="zh-CN" altLang="en-US" sz="2000" dirty="0"/>
              <a:t>）、</a:t>
            </a:r>
            <a:r>
              <a:rPr lang="en-US" altLang="zh-CN" sz="2000" dirty="0"/>
              <a:t>S </a:t>
            </a:r>
            <a:r>
              <a:rPr lang="zh-CN" altLang="en-US" sz="2000" dirty="0"/>
              <a:t>弯边缘、箭头检测，避免扣分</a:t>
            </a:r>
          </a:p>
        </p:txBody>
      </p:sp>
    </p:spTree>
    <p:extLst>
      <p:ext uri="{BB962C8B-B14F-4D97-AF65-F5344CB8AC3E}">
        <p14:creationId xmlns:p14="http://schemas.microsoft.com/office/powerpoint/2010/main" val="2887606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3F740-C077-EA8F-7233-ECBACF93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85" y="0"/>
            <a:ext cx="4205437" cy="952901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环境感知与路径规划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85BE-1C65-7B51-B642-F96CB68B5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8" y="837398"/>
            <a:ext cx="11353800" cy="5854249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zh-CN" altLang="en-US" sz="2400" b="1" dirty="0"/>
              <a:t>二维码识别流程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sz="2200" dirty="0"/>
              <a:t>	</a:t>
            </a:r>
            <a:r>
              <a:rPr lang="en-US" altLang="zh-CN" sz="2000" dirty="0"/>
              <a:t>7 </a:t>
            </a:r>
            <a:r>
              <a:rPr lang="zh-CN" altLang="en-US" sz="2000" dirty="0"/>
              <a:t>层递进式处理：原始图像→灰度→二值化→高斯模糊→对比度增强→边缘检测→多阈值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zh-CN" altLang="en-US" sz="2400" b="1" dirty="0"/>
              <a:t>多模态视觉检测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sz="2200" dirty="0"/>
              <a:t>	</a:t>
            </a:r>
            <a:r>
              <a:rPr lang="zh-CN" altLang="en-US" sz="2000" dirty="0"/>
              <a:t>黄色区域：</a:t>
            </a:r>
            <a:r>
              <a:rPr lang="en-US" altLang="zh-CN" sz="2000" dirty="0"/>
              <a:t>HSV </a:t>
            </a:r>
            <a:r>
              <a:rPr lang="zh-CN" altLang="en-US" sz="2000" dirty="0"/>
              <a:t>颜色空间，底部四点跟踪 </a:t>
            </a:r>
            <a:r>
              <a:rPr lang="en-US" altLang="zh-CN" sz="2000" dirty="0"/>
              <a:t>+ </a:t>
            </a:r>
            <a:r>
              <a:rPr lang="zh-CN" altLang="en-US" sz="2000" dirty="0"/>
              <a:t>前方灯光检测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sz="2000" dirty="0"/>
              <a:t>	S </a:t>
            </a:r>
            <a:r>
              <a:rPr lang="zh-CN" altLang="en-US" sz="2000" dirty="0"/>
              <a:t>弯边缘：</a:t>
            </a:r>
            <a:r>
              <a:rPr lang="en-US" altLang="zh-CN" sz="2000" dirty="0"/>
              <a:t>12 </a:t>
            </a:r>
            <a:r>
              <a:rPr lang="zh-CN" altLang="en-US" sz="2000" dirty="0"/>
              <a:t>点阵列检测，</a:t>
            </a:r>
            <a:r>
              <a:rPr lang="en-US" altLang="zh-CN" sz="2000" dirty="0"/>
              <a:t>3 </a:t>
            </a:r>
            <a:r>
              <a:rPr lang="zh-CN" altLang="en-US" sz="2000" dirty="0"/>
              <a:t>级危险评估（轻微 </a:t>
            </a:r>
            <a:r>
              <a:rPr lang="en-US" altLang="zh-CN" sz="2000" dirty="0"/>
              <a:t>/ </a:t>
            </a:r>
            <a:r>
              <a:rPr lang="zh-CN" altLang="en-US" sz="2000" dirty="0"/>
              <a:t>中等 </a:t>
            </a:r>
            <a:r>
              <a:rPr lang="en-US" altLang="zh-CN" sz="2000" dirty="0"/>
              <a:t>/ </a:t>
            </a:r>
            <a:r>
              <a:rPr lang="zh-CN" altLang="en-US" sz="2000" dirty="0"/>
              <a:t>严重）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控制逻辑：根据危险等级动态调整横向速度（</a:t>
            </a:r>
            <a:r>
              <a:rPr lang="en-US" altLang="zh-CN" sz="2000" dirty="0"/>
              <a:t>0.15~0.35m/s</a:t>
            </a:r>
            <a:r>
              <a:rPr lang="zh-CN" altLang="en-US" sz="2000" dirty="0"/>
              <a:t>）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zh-CN" altLang="en-US" sz="2400" b="1" dirty="0"/>
              <a:t>路径规划与步态调用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sz="2200" dirty="0"/>
              <a:t>	</a:t>
            </a:r>
            <a:r>
              <a:rPr lang="zh-CN" altLang="en-US" sz="2000" dirty="0"/>
              <a:t>基于感知数据生成路径，调用自定义步态（如 </a:t>
            </a:r>
            <a:r>
              <a:rPr lang="en-US" altLang="zh-CN" sz="2000" dirty="0" err="1"/>
              <a:t>toml</a:t>
            </a:r>
            <a:r>
              <a:rPr lang="en-US" altLang="zh-CN" sz="2000" dirty="0"/>
              <a:t> </a:t>
            </a:r>
            <a:r>
              <a:rPr lang="zh-CN" altLang="en-US" sz="2000" dirty="0"/>
              <a:t>文件配置参数）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核心脚本：</a:t>
            </a:r>
            <a:r>
              <a:rPr lang="en-US" altLang="zh-CN" sz="2000" dirty="0"/>
              <a:t>mv.py</a:t>
            </a:r>
            <a:r>
              <a:rPr lang="zh-CN" altLang="en-US" sz="2000" dirty="0"/>
              <a:t>串联各路段逻辑，支持仿真环境运行</a:t>
            </a:r>
          </a:p>
        </p:txBody>
      </p:sp>
    </p:spTree>
    <p:extLst>
      <p:ext uri="{BB962C8B-B14F-4D97-AF65-F5344CB8AC3E}">
        <p14:creationId xmlns:p14="http://schemas.microsoft.com/office/powerpoint/2010/main" val="428432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786E44-BCF7-75E2-4536-89CA00103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85" y="86627"/>
            <a:ext cx="10515600" cy="901599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运动控制与特殊赛段处理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C81F78-E38E-91B5-8290-66098B048446}"/>
              </a:ext>
            </a:extLst>
          </p:cNvPr>
          <p:cNvSpPr txBox="1"/>
          <p:nvPr/>
        </p:nvSpPr>
        <p:spPr>
          <a:xfrm>
            <a:off x="991402" y="988226"/>
            <a:ext cx="938463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转向与运动控制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1800" dirty="0"/>
              <a:t>	</a:t>
            </a:r>
            <a:r>
              <a:rPr lang="zh-CN" altLang="en-US" sz="2000" dirty="0"/>
              <a:t>基于里程计的精确角度控制，支持最短路径计算与动态参数调整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代码逻辑：轮询角度差，自动停止与误差修正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特殊赛段步态</a:t>
            </a:r>
          </a:p>
          <a:p>
            <a:pPr>
              <a:lnSpc>
                <a:spcPct val="170000"/>
              </a:lnSpc>
            </a:pPr>
            <a:r>
              <a:rPr lang="en-US" altLang="zh-CN" sz="1800" dirty="0"/>
              <a:t>	</a:t>
            </a:r>
            <a:r>
              <a:rPr lang="zh-CN" altLang="en-US" sz="2000" dirty="0"/>
              <a:t>上坡：雷达检测坡度 </a:t>
            </a:r>
            <a:r>
              <a:rPr lang="en-US" altLang="zh-CN" sz="2000" dirty="0"/>
              <a:t>&gt; 10°</a:t>
            </a:r>
            <a:r>
              <a:rPr lang="zh-CN" altLang="en-US" sz="2000" dirty="0"/>
              <a:t>，触发</a:t>
            </a:r>
            <a:r>
              <a:rPr lang="en-US" altLang="zh-CN" sz="2000" dirty="0" err="1"/>
              <a:t>gait_id</a:t>
            </a:r>
            <a:r>
              <a:rPr lang="en-US" altLang="zh-CN" sz="2000" dirty="0"/>
              <a:t>=110</a:t>
            </a:r>
            <a:r>
              <a:rPr lang="zh-CN" altLang="en-US" sz="2000" dirty="0"/>
              <a:t>，俯仰角 </a:t>
            </a:r>
            <a:r>
              <a:rPr lang="en-US" altLang="zh-CN" sz="2000" dirty="0"/>
              <a:t>+ 15°</a:t>
            </a:r>
          </a:p>
          <a:p>
            <a:pPr>
              <a:lnSpc>
                <a:spcPct val="17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限高杆：下蹲步态，机身高度 </a:t>
            </a:r>
            <a:r>
              <a:rPr lang="en-US" altLang="zh-CN" sz="2000" dirty="0"/>
              <a:t>- 0.5m</a:t>
            </a:r>
            <a:r>
              <a:rPr lang="zh-CN" altLang="en-US" sz="2000" dirty="0"/>
              <a:t>（</a:t>
            </a:r>
            <a:r>
              <a:rPr lang="en-US" altLang="zh-CN" sz="2000" dirty="0" err="1"/>
              <a:t>body_pos_des</a:t>
            </a:r>
            <a:r>
              <a:rPr lang="en-US" altLang="zh-CN" sz="2000" dirty="0"/>
              <a:t>[5]=-0.5</a:t>
            </a:r>
            <a:r>
              <a:rPr lang="zh-CN" altLang="en-US" sz="2000" dirty="0"/>
              <a:t>）</a:t>
            </a:r>
          </a:p>
          <a:p>
            <a:pPr>
              <a:lnSpc>
                <a:spcPct val="17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石板路：雷达点云密度 </a:t>
            </a:r>
            <a:r>
              <a:rPr lang="en-US" altLang="zh-CN" sz="2000" dirty="0"/>
              <a:t>&gt; 50 </a:t>
            </a:r>
            <a:r>
              <a:rPr lang="zh-CN" altLang="en-US" sz="2000" dirty="0"/>
              <a:t>点 </a:t>
            </a:r>
            <a:r>
              <a:rPr lang="en-US" altLang="zh-CN" sz="2000" dirty="0"/>
              <a:t>/㎡</a:t>
            </a:r>
            <a:r>
              <a:rPr lang="zh-CN" altLang="en-US" sz="2000" dirty="0"/>
              <a:t>，</a:t>
            </a:r>
            <a:r>
              <a:rPr lang="en-US" altLang="zh-CN" sz="2000" dirty="0"/>
              <a:t>MPC </a:t>
            </a:r>
            <a:r>
              <a:rPr lang="zh-CN" altLang="en-US" sz="2000" dirty="0"/>
              <a:t>算法避障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库位与黄灯区域</a:t>
            </a:r>
          </a:p>
          <a:p>
            <a:pPr>
              <a:lnSpc>
                <a:spcPct val="170000"/>
              </a:lnSpc>
            </a:pPr>
            <a:r>
              <a:rPr lang="en-US" altLang="zh-CN" sz="1600" dirty="0"/>
              <a:t>	</a:t>
            </a:r>
            <a:r>
              <a:rPr lang="zh-CN" altLang="en-US" sz="2000" dirty="0"/>
              <a:t>二维码触发入库逻辑，四足静止 </a:t>
            </a:r>
            <a:r>
              <a:rPr lang="en-US" altLang="zh-CN" sz="2000" dirty="0"/>
              <a:t>5 </a:t>
            </a:r>
            <a:r>
              <a:rPr lang="zh-CN" altLang="en-US" sz="2000" dirty="0"/>
              <a:t>秒完成任务  </a:t>
            </a:r>
            <a:endParaRPr lang="en-US" altLang="zh-CN" sz="2000" dirty="0"/>
          </a:p>
          <a:p>
            <a:pPr>
              <a:lnSpc>
                <a:spcPct val="17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黄灯前 </a:t>
            </a:r>
            <a:r>
              <a:rPr lang="en-US" altLang="zh-CN" sz="2000" dirty="0"/>
              <a:t>1m </a:t>
            </a:r>
            <a:r>
              <a:rPr lang="zh-CN" altLang="en-US" sz="2000" dirty="0"/>
              <a:t>刹车，确保停车位置误差≤</a:t>
            </a:r>
            <a:r>
              <a:rPr lang="en-US" altLang="zh-CN" sz="2000" dirty="0"/>
              <a:t>20cm</a:t>
            </a:r>
            <a:endParaRPr lang="zh-CN" altLang="en-US" sz="2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5095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530</Words>
  <Application>Microsoft Office PowerPoint</Application>
  <PresentationFormat>宽屏</PresentationFormat>
  <Paragraphs>45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Inter</vt:lpstr>
      <vt:lpstr>等线</vt:lpstr>
      <vt:lpstr>等线 Light</vt:lpstr>
      <vt:lpstr>Arial</vt:lpstr>
      <vt:lpstr>Office 主题​​</vt:lpstr>
      <vt:lpstr>方案概述与系统架构</vt:lpstr>
      <vt:lpstr>初赛流程图</vt:lpstr>
      <vt:lpstr>创新点与核心技术</vt:lpstr>
      <vt:lpstr>环境感知与路径规划</vt:lpstr>
      <vt:lpstr>运动控制与特殊赛段处理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Sirbu Zou</dc:creator>
  <cp:lastModifiedBy>Sirbu Zou</cp:lastModifiedBy>
  <cp:revision>4</cp:revision>
  <dcterms:created xsi:type="dcterms:W3CDTF">2025-05-31T14:25:35Z</dcterms:created>
  <dcterms:modified xsi:type="dcterms:W3CDTF">2025-05-31T14:41:20Z</dcterms:modified>
</cp:coreProperties>
</file>